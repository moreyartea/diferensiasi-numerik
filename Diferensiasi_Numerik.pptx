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Sapa audiens, sebut judul dan bab. Jelaskan bahwa hari ini kita membahas cara memperkirakan turunan fungsi hanya dari nilai-nilai fungsi. Gambar kurva dengan garis singgung mewakili ide utama: turunan adalah kemiringan garis singgung. Isi placeholder nama, dosen, dan program studi sebelum presentasi.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Turunan menyatakan laju perubahan. Kadang fungsi sulit diturunkan, atau kita hanya punya tabel data. Contoh di awal Bab 6 adalah fungsi jarak bola jatuh dengan ln cosh; kecepatannya sulit diturunkan secara analitik. Karena itu kita pakai pendekatan numerik.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ini penjelasan tambahan agar audiens tahu untuk apa rumus Bab 6 dipakai. Datanya sengaja dibuat sederhana dari s(t) = t^3 supaya kita tahu jawaban benarnya (12 m/s).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Buku menurunkan rumus lewat polinomial Lagrange dan suku galatnya, bukan langsung lewat Taylor. Intinya: fungsi didekati dengan polinomial yang melalui titik data, lalu diturunkan.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rumus ini adalah yang paling sederhana. Maju memakai titik di depan, mundur memakai titik di belakang. Keduanya hanya butuh dua nilai fungsi dan galatnya berorde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Selisih tengah adalah rumus tiga titik tengah di buku (6.5), tanpa memakai f(x₀) itu sendiri. Karena simetris, suku galat orde pertama saling meniadakan, sehingga galatnya berorde h².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Rumus tiga titik ujung dipakai saat titik ada di ujung data. Rumus lima titik tengah memakai koefisien 1, -8, 8, -1 dan penyebut 12h; galatnya berorde h⁴.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Substitusikan x₀ = 1,8 dan h = 0,1 ke rumus beda maju: ln 1,9 dikurangi ln 1,8, dibagi 0,1, hasilnya 0,5406722. Bandingkan dengan eksak 1/1,8 = 0,5555556.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Setiap rumus yang kita pakai hanya pendekatan. Galat pemotongan muncul karena suku dibuang. Orde O(h), O(h²), O(h⁴) menunjukkan kecepatan galat mengecil.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 dua sumber galat berlawanan: pemotongan (mengecil saat h turun) vs pembulatan/noise (membesar saat h turun). Tabel dihitung sendiri dengan e^x di x=1.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ini melengkapi slide galat: Ea memberi satuan turunan, Er membandingkan dengan besar turunan, E_% adalah Er x 100. Jika turunan nol, Er tidak terdefinisi.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 Richardson: dua hasil dengan h berbeda digabung agar suku galat utama hilang. Kunci: periksa dulu bentuk galat awalnya, baru pilih rumus.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Ambil dua hasil dari Slide 8: N₁(0,1) dan N₁(0,05). Karena selisih maju berorde h, pakai N₂ = 2N₁(h/2) - N₁(h). Hasilnya jauh lebih dekat ke nilai eksak.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hanya tabel lima titik. Tiga titik ujung: 22,032310. Tiga titik tengah: 22,228790. Lima titik tengah: 22,166999. Nilai eksak 3e² = 22,167168.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sini diminta melengkapi kolom turunan dari tabel. Di ujung pakai rumus ujung, di tengah pakai rumus tengah. Lima titik tengah hanya bisa untuk x=1,3.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Rumus tengah punya galat berpangkat genap, jadi dipakai pembagi 3 lalu 15. N₃(0,2) sama dengan nilai eksak sampai 6 angka desimal.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Titik yang dihitung f'(1,3) dengan h=0,2 dan 0,1. Level ketiga tidak mungkin dihitung karena data di 1,25 dan 1,35 tidak tersedia.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Gunakan tabel ini untuk merangkum. Maju/mundur O(h), tengah &amp; 3 titik ujung O(h²), lima titik O(h⁴). Richardson memperbaiki hasil rumus 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ini fokus pada kapan rumus dipakai. Pesan penutup: jangan menyimpulkan satu metode selalu paling baik. Lima titik memiliki koefisien besar sehingga lebih sensitif terhadap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Rangkum perjalanan dari definisi, deret, rumus 2, 3, 5 titik, galat, lalu Richardson. Tutup dengan kutipan penting.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sumber utama presentasi: buku Metode Numerik karya Imron, Mardlijah, dan Asfihani (2022), Bab 6 Departemen Matematika 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METODE NUMERIK — BAB 6</a:t>
            </a:r>
          </a:p>
          <a:p>
            <a:pPr>
              <a:spcAft>
                <a:spcPts val="600"/>
              </a:spcAft>
              <a:defRPr sz="4400" b="1">
                <a:solidFill>
                  <a:srgbClr val="0F172A"/>
                </a:solidFill>
              </a:defRPr>
            </a:pPr>
            <a:r>
              <a:t>DIFERENSIASI NUMERIK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Pendekatan Nilai Turunan Fungsi melalui Polinomial Deret &amp; Ekstrapolasi Richardson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77724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Penyusun: [Nama Anggota Kelompok]    |    Dosen: [Nama Dosen]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Program Studi / Universitas: [Program Studi, Universitas]</a:t>
            </a:r>
            <a:br/>
            <a:r>
              <a:t>Tahun Akademik: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 · PENGANTAR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Pengertian Diferensiasi Numerik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2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2596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[A] Pengertian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Memperkirakan nilai turunan fungsi f'(x) dari titik-titik diskret.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Dipakai saat turunan analitis sulit diperoleh secara eksak.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Metode utama saat data berupa tabel pengukuran.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2596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[B] Tujuan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Memperkirakan laju perubahan sesaat fungsi.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Menghitung turunan dari data tabel diskret.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Membantu penyelesaian persamaan diferensial.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47695" cy="2596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[C] Analitis vs Numerik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Analitis: Hasil diferensiasi matematis formal (eksak).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Numerik: Hasil hampiran (pendekatan) bernilai numerik.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Memerlukan pemahaman atas galat hampiran.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92040"/>
            <a:ext cx="10271455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CONTOH MOTIVASI FISIKA (BUKU HLM. 185)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Jarak jatuh:  z(t) = (m / cd) · ln cosh( √(g·cd / m) · t )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Kecepatan v(t) = z'(t) sulit diturunkan analitis pada model aerodinamika non-linier kompleks.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PENGANTAR TAMBAHAN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Penerapan di Dunia Nyata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3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[Praktis] Contoh Aplikasi Rekayasa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Kecepatan: v(t) = ds/dt dari sensor posisi GPS / telemetri.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Percepatan: a(t) = dv/dt dari data kecepatan kendaraan.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Perpindahan Panas: Laju perubahan suhu dT/dx (Hukum Fourier).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Data Eksperimen: Menghitung laju reaksi kimia dari sampel waktu.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Catatan: Data nyata tidak memiliki rumus fungsi kontinu eksak!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76495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[Kasus] Studi Kasus: Posisi s(t) -&gt; v(2)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Data t = 1, 2, 3 s -&gt; s = 1, 8, 27 m (h = 1 s). Dicari v(2):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Maju: (27 - 8)/1 = 19 m/s (Galat = 7)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Mundur: (8 - 1)/1 = 7 m/s (Galat = 5)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Tengah: (27 - 1)/2 = 13 m/s (Galat = 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Eksak s(t)=t³ -&gt; s'(2) = 3(2)² = 12 m/s.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Kesimpulan: Selisih tengah O(h²) jauh lebih teliti daripada O(h)!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6.1 · PENDEKATAN DERET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Dasar Rumus: Pendekatan Deret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4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[Penurunan] Penurunan via Polinomial Lagrange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Interpolasi pada x₀ dan x₁ = x₀ + h: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f(x) = P₀,₁(x) + [(x - x₀)(x - x₁)/2!] f''(ξ(x))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P₀,₁(x) = [f(x₀)(x - x₀ - h)/(-h)] + [f(x₀+h)(x - x₀)/h]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Turunkan terhadap x, lalu evaluasi di x = x₀.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Suku koefisien D_x(f''(ξ(x))) bernilai 0 di x = x₀ sehingga galat dapat dirumuskan secara tegas.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85055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HASIL PENURUNAN (PERSAMAAN 6.1 BUKU)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f'(x₀) = [f(x₀ + h) - f(x₀)] / h  -  (h / 2) f''(ξ)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Suku -(h/2)f''(ξ) adalah galat pemotongan (truncation error)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96512"/>
            <a:ext cx="4876495" cy="1682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[Setara] Sudut Pandang Deret Taylor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f(x+h) = f(x) + h f'(x) + (h²/2) f''(x) + ...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f'(x) = [f(x+h) - f(x)] / h - O(h)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Alur: Titik Data -&gt; Polinomial -&gt; Rumus -&gt; Suku Galat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6.1 · PENDEKATAN DERET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Metode Selisih Maju dan Mundur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5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2103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SELISIH MAJU (FORWARD DIFFERENCE)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f'(x) ≈ [f(x + h) - f(x)] / h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Titik di depan | Cocok untuk ujung kiri data | Galat O(h)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85055" cy="2103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SELISIH MUNDUR (BACKWARD DIFFERENCE)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f'(x) ≈ [f(x) - f(x - h)] / h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Titik di belakang | Cocok untuk ujung kanan data | Galat O(h)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62895" cy="13167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[Evaluasi] Karakteristik &amp; Kesimpulan Praktis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Sederhana: Masing-masing hanya membutuhkan 2 nilai fungsi.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Keterbatasan: Orde galat O(h) memerlukan nilai h yang sangat kecil untuk presisi tinggi.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Buku teks: Beda mundur secara matematis adalah Persamaan 6.1 dengan nilai h negatif.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6.1 · PENDEKATAN DERET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Metode Selisih Tengah (Central Difference)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6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2286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71455" cy="2011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RUMUS TIGA TITIK TENGAH (PERSAMAAN 6.5)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f'(x₀) ≈ [f(x₀ + h) - f(x₀ - h)] / (2h)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Suku galat pemotongan:  -(h² / 6) f'''(ξ₁) ,  ξ₁ ∈ (x₀ - h, x₀ + h)  =&gt;  O(h²)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4754880" cy="1408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[Kelebihan] Kelebihan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Simetris: Suku ganjil Taylor saling meniadakan.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Orde O(h²): Jika h dibagi 2, galat turun 4 kali lipat!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Nilai f(x₀) tidak perlu dihitung dalam rumus.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422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70832"/>
            <a:ext cx="4876495" cy="1408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[Keterbatasan] Keterbatasan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Membutuhkan nilai fungsi di kedua sisi titik (kiri &amp; kanan).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Tidak dapat digunakan pada batas paling ujung data tabel.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Memerlukan rumus titik ujung (slide 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6.1 · PENDEKATAN DERET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Rumus Tiga Titik dan Lima Titik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7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3464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3 TITIK UJUNG (6.4)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[-3f₀ + 4f₁ - f₂] / 2h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Galat: (h²/3) f''' =&gt; O(h²)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5 TITIK TENGAH (6.7)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[f₋₂ - 8f₋₁ + 8f₁ - f₂] / 12h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Galat: (h⁴/30) f⁽⁵⁾ =&gt; O(h⁴)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83080"/>
            <a:ext cx="2956255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5 TITIK UJUNG (6.6)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[-25f₀ + 48f₁ - 36f₂ + 16f₃ - 3f₄] / 12h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Galat: (h⁴/5) f⁽⁵⁾ =&gt; O(h⁴)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023360"/>
          <a:ext cx="107286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Tiga Titik Ujung (6.4)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Lima Titik Tengah (6.7)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Lima Titik Ujung (6.6)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Jumlah Titik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 titik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Posisi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batas interval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Titik dalam (interior)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batas interval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Orde Galat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6.1.1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Contoh: Selisih Maju untuk f(x) = ln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8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71455" cy="1371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PERHITUNGAN KASUS X₀ = 1,8 ; H = 0,1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f'(1,8) ≈ [ln(1,9) - ln(1,8)] / 0,1 = (0,64185389 - 0,58778667) / 0,1 = 0,5406722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Nilai Eksak: f'(x) = 1/x =&gt; f'(1,8) = 1/1,8 ≈ 0,5555556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47472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Langkah 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Nilai Pendekatan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 Aktual |Eksak - Pend.|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Batas Atas Galat |h| / [2(1,8)²]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0,5406722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0,0148834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0,0154321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0,5479795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0,0075761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0,0077160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0,5540180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0,0015376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0,0015432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42432"/>
            <a:ext cx="10362895" cy="2651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Catatan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Makin kecil h, pendekatan makin dekat ke eksak. Batas atas teoritis terbukti selalu lebih besar dari galat aktual.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ANALISIS GALAT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Galat atau Kesalahan Pendekatan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9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[Teori] Konsep Dasar Galat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Turunan numerik selalu berupa hampiran / pendekatan.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Galat Pemotongan (Truncation Error): Akibat memutus deret tak hingga Taylor.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Galat Bertanda = Eksak - Pendekatan.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Galat Absolut = |Eksak - Pendekatan|.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Pengaruh h: h makin kecil -&gt; galat pemotongan umumnya turun.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76495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[Orde] Perbandingan Orde Galat O(h^p)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Selisih Maju  : O(h)    [Linear, penurunan lambat]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Selisih Mundur: O(h)    [Linear, penurunan lambat]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Selisih Tengah: O(h²)   [Kuadratik, h/2 -&gt; galat / 4]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3 Titik Ujung : O(h²)   [Kuadratik, h/2 -&gt; galat / 4]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5 Titik Tengah: O(h⁴)   [Kuartik, h/2 -&gt; galat / 16! ⭐]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5 Titik Ujung : O(h⁴)   [Kuartik, h/2 -&gt; galat / 16! ⭐]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Catatan: Notasi Big-O adalah perilaku asimtotik saat h cukup kecil.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ANALISIS GALAT TAMBAHAN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Pengaruh Nilai h dan Sumber Galat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10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[Model] Trade-off Komputasi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Galat Pemotongan ~ h^p: Turun saat h mengecil.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Galat Pembulatan / Noise ~ δ/h: Naik saat h mengecil!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Total Galat (Tengah): E(h) ≤ (M h² / 6) + (δ / h)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Langkah Optimum: h* ≈ ³√(3δ / M)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Peringatan: Nilai h yang terlalu kecil TIDAK SELALU lebih akurat!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2422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418"/>
                <a:gridCol w="1747418"/>
                <a:gridCol w="1747419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Langkah 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 Maju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 Tengah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1,41 × 10⁻¹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4,53 × 10⁻³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1,36 × 10⁻⁴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4,53 × 10⁻⁹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1,36 × 10⁻⁶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1,63 × 10⁻¹⁰ (Optimum Tengah)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6,60 × 10⁻⁹ (Optimum Maju) 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6,60 × 10⁻⁹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10⁻¹²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4,32 × 10⁻⁴ (Naik kembali)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2,10 × 10⁻⁴ (Naik kembali)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10⁻¹⁴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9,34 × 10⁻³ (Naik kembali)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9,34 × 10⁻³ (Naik kembali)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ANALISIS GALAT TAMBAHAN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Galat Absolut, Relatif, dan Persentase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11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34640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GALAT ABSOLUT (EA)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Ea = |f'(x) - Dh|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Satuan sama dengan turunan f'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GALAT RELATIF (ER)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Er = |f'(x) - Dh| / |f'(x)|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Ukuran proporsional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83080"/>
            <a:ext cx="2956255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GALAT PERSENTASE (E%)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E% = Er × 100%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Format persentase praktis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10362895" cy="17739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[Aplikasi] Contoh Aplikasi: Kasus ln x di x = 1,8 (h = 0,1)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Dh = 0,5406722  dan  f'(1,8) = 0,5555556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Ea = |0,5555556 - 0,5406722| = 0,0148834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Er = 0,0148834 / 0,5555556 ≈ 0,0267901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E% ≈ 2,679%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Perhatian Khusus: Jika f'(x) = 0, Er tidak terdefinisi (pembagian nol). Gunakan Ea!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6.2 · EKSTRAPOLASI RICHARDSON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Metode Ekstrapolasi Richardson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12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[Konsep] Prinsip Kerja Richardson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Menggabungkan hasil langkah awal N₁(h) dan langkah separuhnya N₁(h/2).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Menghilangkan suku galat dominan pertama.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Mendongkrak ketelitian secara drastis tanpa perlu rumus baru.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Rumus Rekursif Umum (Galat Genap):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Nj(h) = N_{j-1}(h/2) + [1/(4^{j-1} - 1)] [N_{j-1}(h/2) - N_{j-1}(h)]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Penting: Pilih rumus sesuai bentuk ekspansi galat!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85055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GALAT BERPANGKAT GENAP (SELISIH TENGAH)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N₂(h) = [4 N₁(h/2) - N₁(h)] / 3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Menghilangkan suku h² =&gt; Menjadi berorde O(h⁴) 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69080"/>
            <a:ext cx="4785055" cy="1737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GALAT BERPANGKAT LINEAR (SELISIH MAJU/MUNDUR)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N₂(h) = 2 N₁(h/2) - N₁(h)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Menghilangkan suku h =&gt; Menjadi berorde O(h²)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6.2.1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Contoh Richardson untuk f(x) = ln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13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71455" cy="1371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SUBSTITUSI NILAI LANGKAH H = 0,1 DAN H = 0,05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N₂(0,1) = 2 N₁(0,05) - N₁(0,1) = 2(0,5479795) - 0,5406722 ≈ 0,5552868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Nilai Eksak: 1/1,8 ≈ 0,5555556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4747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Hasil Perhitungan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 terhadap Nilai Eksak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Maju (h = 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0,5406722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0,0148834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Maju (h = 0,05)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0,5479795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0,0075761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Ekstrapolasi Richardson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0,5552868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0,0002688 (28× Lebih Teliti!)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Nilai Eksak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0,5555556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— (Referensi)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6.1.2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Penerapan pada Data Tabel: f(x) = x e^x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14 dari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4114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f(x) Data Tabel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10,889365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12,703199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2,0 (Titik Evaluasi)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14,778112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17,148957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19,855030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1645920"/>
          <a:ext cx="633953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178"/>
                <a:gridCol w="2113178"/>
                <a:gridCol w="2113179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Rumus (h = 0,1)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Pendekatan f'(2)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 Absolut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Tiga Titik Ujung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22,032310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1,35 × 10⁻¹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Tiga Titik Tengah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22,228790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6,16 × 10⁻²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Lima Titik Tengah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22,166999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1,69 × 10⁻⁴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120640" y="4572000"/>
            <a:ext cx="633953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4736592"/>
            <a:ext cx="5973775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[Evaluasi] Analisis Hasil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Eksak: f'(x) = (1+x)e^x =&gt; f'(2) = 3e² ≈ 22,167168.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Lima titik tengah O(h⁴) memberikan ketelitian luar biasa pada data tabel!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6.1.3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Contoh 6.1.3 — Menghitung Turunan dari Data Tabel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15 dari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120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Titik 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Rumus yang Cocok Digunakan (h = 0,1)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1,1 (Ujung)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6.4 Tiga Titik Ujung ; 6.6 Lima Titik Ujung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1,2 (Interior)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6.4 Ujung ; 6.5 Tiga Titik Tengah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1,3 (Tengah Penuh)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6.4 Ujung ; 6.5 Tengah ; 6.7 Lima Titik Tengah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1,4 (Interior)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6.4 Ujung (h=-0,1) ; 6.5 Tengah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1,5 (Ujung)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6.4 Ujung (h=-0,1) ; 6.6 Lima Titik Ujung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64592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76495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[Hitungan] Contoh Hitungan Tabel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f'(1,1) [Ujung 6.4, h=0,1]: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[-3(9,025013) + 4(11,02318) - 13,46374] / 0,2 = 17,76971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f'(1,3) [Tengah 6.5, h=0,1]: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[16,44465 - 11,02318] / 0,2 = 27,10735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f'(1,3) [Lima Titik Tengah 6.7]: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[9,025013 - 8(11,02318) + 8(16,44465) - 20,08554] / 1,2 = 26,92603 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6.2.2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Contoh 6.2.2 — Richardson pada f(x) = x e^x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16 dari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Langkah / Tingkat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Perhitungan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N₁(0,2)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2,5(19,855030 - 10,889365)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22,414160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Tengah h=0,2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N₁(0,1)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5(17,148957 - 12,703199)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22,228786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Tengah h=0,1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N₂(0,2)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22,228786 + (22,228786 - 22,414160)/3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22,166995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Tingkat 2 (O(h⁴))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N₁(0,05)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10(15,924197 - 13,705941)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22,182564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Tengah h=0,05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N₂(0,1)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22,182564 + (22,182564 - 22,228786)/3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22,167157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Tingkat 2 h=0,1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N₃(0,2)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22,167157 + (22,167157 - 22,166995)/15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22,167168 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Identik Eksak!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486400"/>
            <a:ext cx="1072865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0992"/>
            <a:ext cx="10362895" cy="356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Hasil Akhir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Eksak: 3e² ≈ 22,167168. N₃(0,2) identik sempurna dengan nilai eksak hingga 6 angka desimal!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CONTOH 6.2.3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Contoh 6.2.3 — Richardson dari Data Tabel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17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[Hitungan] Perhitungan Richardson x₀ = 1,3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N₁(0,2) = (20,08554 - 9,025013) / 0,4 = 27,651318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N₁(0,1) = (16,44465 - 11,02318) / 0,2 = 27,10735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Kombinasi Galat Genap N₂(0,2):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N₂(0,2) = 27,10735 + (27,10735 - 27,651318) / 3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N₂(0,2) ≈ 26,926027 ⭐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Hasil ini berorde O(h⁴) dan sama dengan lima titik tengah!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76495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[Batasan] Keterbatasan Batas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Mengapa N₃ tidak bisa dihitung?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Untuk N₃ dibutuhkan N₁(0,05) yang memerlukan f(1,35) dan f(1,25).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Karena tabel eksperimen hanya memiliki kelipatan 0,1, data tersebut tidak ada.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Rekursi Richardson harus berhenti pada ketersediaan data tabel nyata!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RINGKASAN METODE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Perbandingan Metode Diferensiasi Numerik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18 dari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Titik /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Galat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Kelebihan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Keterbatasan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Maju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x, x+h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Sederhana, 2 nilai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Kurang teliti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Mundur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x-h, 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Cocok di ujung kanan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Kurang teliti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Tengah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x-h, x+h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Simetris, lebih teliti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Perlu data 2 sisi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 Titik Ujung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x₀, x₀+h, x₀+2h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 ujung interval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Butuh 3 nilai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 Tengah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x₀±h, x₀±2h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Sangat teliti &amp; presisi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Butuh 5 nilai simetris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 Ujung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x₀ ... x₀+4h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 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Teliti di ujung satu sisi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Butuh 5 nilai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Richardson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N₁(h), N₁(h/2)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Mendongkrak ketelitian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Bentuk galat harus sesuai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RINGKASAN METODE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Memilih Metode: Rumus &amp; Kondisi Penggunaan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19 dari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Rumus Dasar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Orde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Kondisi Penggunaan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Maju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[f(x+h) - f(x)] /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kiri data; hanya ada data ke depan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Mundur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[f(x) - f(x-h)] / 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kanan data; hanya ada data ke belakang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Selisih Tengah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[f(x+h) - f(x-h)] / 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Titik dalam; pilihan umum paling seimbang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 Titik Ujung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[-3f₀ + 4f₁ - f₂] / 2h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interval yang membutuhkan akurasi orde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 Tengah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[f₋₂ - 8f₋₁ + 8f₁ - f₂] / 12h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Titik dalam; data rapat dan fungsi mulus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Titik Ujung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[-25f₀ + 48f₁ - 36f₂ + 16f₃ - 3f₄]/12h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O(h⁴)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Ujung interval yang membutuhkan akurasi orde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Richardson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Eliminasi galat N₁(h) &amp; N₁(h/2)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Tersedia multi-langkah &amp; bentuk galat sesuai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669280"/>
            <a:ext cx="10728655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33872"/>
            <a:ext cx="10362895" cy="1737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Catatan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Tidak ada metode yang selalu terbaik di segala situasi: perhatikan noise data dan kestabilan pembulatan!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PENUTUP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20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5120640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[Ringkasan] Poin-Poin Kunci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Diferensiasi numerik memperkirakan turunan dari nilai fungsi diskret.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Pendekatan deret (Lagrange &amp; Taylor) menjadi fondasi matematis utama.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Selisih maju dan mundur: galat pemotongan O(h).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Selisih tengah dan tiga titik ujung: galat O(h²).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Lima titik (tengah dan ujung): ketelitian tinggi O(h⁴).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Ekstrapolasi Richardson meningkatkan ketelitian secara signifikan.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Pilih h dengan cermat mengingat trade-off pemotongan vs pembulatan.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7649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10512"/>
            <a:ext cx="4510735" cy="3968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[Intisari] Prinsip Utama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"Ketelitian diferensiasi numerik tidak hanya ditentukan oleh rumus yang digunakan, tetapi juga oleh ukuran langkah, data yang tersedia, dan sifat fungsi."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Keseimbangan Komputasi: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• Orde tinggi butuh lebih banyak data &amp; sensitif terhadap noise.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• Nilai h terlalu kecil memperbesar galat pembulatan komputer.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• Selalu sesuaikan metode dengan posisi titik data!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REFERENSI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Daftar Pustaka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Metode Numerik — Imron dkk. (2022) | Slide 21 dari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362895" cy="1682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[Utama] Buku Teks Utama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Imron, C., Mardlijah, &amp; Asfihani, T. (2022).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Metode Numerik.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Departemen Matematika, Institut Teknologi Sepuluh Nopember (ITS).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ISBN: 978-623-318-126-6.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0362895" cy="16824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[Pendukung] Referensi Tambahan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[1] Burden, R. L., &amp; Faires, J. D. (2010). Numerical Analysis, 9th ed. Cengage Learning. §1.2 (Galat), §4.1 (Diferensiasi Numerik), §4.2 (Ekstrapolasi Richardson).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[2] University of Maryland (AMSC 466). Lecture Notes: Numerical Differentiation. Pertukaran galat pemotongan dan pembulatan komputer.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