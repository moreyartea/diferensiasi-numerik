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645920"/>
            <a:ext cx="109728" cy="29260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8686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563EB"/>
                </a:solidFill>
              </a:defRPr>
            </a:pPr>
            <a:r>
              <a:t>METODE NUMERIK</a:t>
            </a:r>
          </a:p>
          <a:p>
            <a:pPr>
              <a:spcAft>
                <a:spcPts val="600"/>
              </a:spcAft>
              <a:defRPr sz="4400" b="1">
                <a:solidFill>
                  <a:srgbClr val="0F172A"/>
                </a:solidFill>
              </a:defRPr>
            </a:pPr>
            <a:r>
              <a:t>DIFERENSIASI NUMERIK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t>Pendekatan Nilai Turunan Fungsi melalui Polinomial Deret &amp; Ekstrapolasi Richardson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749039"/>
            <a:ext cx="8412480" cy="22860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1100" b="1">
                <a:solidFill>
                  <a:srgbClr val="1E3A8A"/>
                </a:solidFill>
              </a:defRPr>
            </a:pPr>
            <a:r>
              <a:t>ANGGOTA KELOMPOK: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</a:defRPr>
            </a:pPr>
            <a:r>
              <a:t>1. Farel Luther Siagian (4253250041)       2. Fatih Taqiyyuddin (4253250057)</a:t>
            </a:r>
            <a:br/>
            <a:r>
              <a:t>3. Siti Zulayka Maulida Amali (4253250001)   4. Keegan Gibran Jehian (4253250029)</a:t>
            </a:r>
          </a:p>
          <a:p>
            <a:pPr>
              <a:spcAft>
                <a:spcPts val="200"/>
              </a:spcAft>
              <a:defRPr sz="1100" b="1">
                <a:solidFill>
                  <a:srgbClr val="1E3A8A"/>
                </a:solidFill>
              </a:defRPr>
            </a:pPr>
            <a:r>
              <a:t>DOSEN PENGAMPU: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Debi Yandra Niska, S.Kom., M.Kom.    |    Tahun: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E3A8A"/>
                </a:solidFill>
              </a:defRPr>
            </a:pPr>
            <a:r>
              <a:t>PENGANTAR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Pengertian Diferensiasi Numerik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none" tIns="0" l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Metode Numerik — Imron dkk. (2022) | Slide 2 dari 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291840" cy="29260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2926080" cy="25968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[A] Pengertian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Memperkirakan nilai turunan fungsi f'(x) dari titik-titik diskret.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Dipakai saat turunan analitis sulit diperoleh secara eksak.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Metode utama saat data berupa tabel pengukuran.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291840" cy="29260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10512"/>
            <a:ext cx="2926080" cy="25968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[B] Tujuan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Memperkirakan laju perubahan sesaat fungsi.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Menghitung turunan dari data tabel diskret.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Membantu penyelesaian persamaan diferensial.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413455" cy="29260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810512"/>
            <a:ext cx="3047695" cy="25968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[C] Analitis vs Numerik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Analitis: Hasil diferensiasi matematis formal (eksak).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Numerik: Hasil hampiran (pendekatan) bernilai numerik.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Memerlukan pemahaman atas galat hampiran.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754880"/>
            <a:ext cx="10728655" cy="128016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892040"/>
            <a:ext cx="10271455" cy="10058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</a:defRPr>
            </a:pPr>
            <a:r>
              <a:t>CONTOH MOTIVASI FISIKA (HLM. 185)</a:t>
            </a:r>
          </a:p>
          <a:p>
            <a:pPr algn="ctr">
              <a:spcAft>
                <a:spcPts val="400"/>
              </a:spcAft>
              <a:defRPr sz="1600" b="1">
                <a:solidFill>
                  <a:srgbClr val="0F172A"/>
                </a:solidFill>
              </a:defRPr>
            </a:pPr>
            <a:r>
              <a:t>Jarak jatuh:  z(t) = (m / cd) · ln cosh( √(g·cd / m) · t )</a:t>
            </a:r>
          </a:p>
          <a:p>
            <a:pPr algn="ctr">
              <a:defRPr sz="1100">
                <a:solidFill>
                  <a:srgbClr val="475569"/>
                </a:solidFill>
              </a:defRPr>
            </a:pPr>
            <a:r>
              <a:t>Kecepatan v(t) = z'(t) sulit diturunkan analitis pada model aerodinamika non-linier kompleks.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E3A8A"/>
                </a:solidFill>
              </a:defRPr>
            </a:pPr>
            <a:r>
              <a:t>PENGANTAR TAMBAHAN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Penerapan di Dunia Nyata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none" tIns="0" l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Metode Numerik — Imron dkk. (2022) | Slide 3 dari 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4754880" cy="39684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[Praktis] Contoh Aplikasi Rekayasa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Kecepatan: v(t) = ds/dt dari sensor posisi GPS / telemetri.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Percepatan: a(t) = dv/dt dari data kecepatan kendaraan.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Perpindahan Panas: Laju perubahan suhu dT/dx (Hukum Fourier).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Data Eksperimen: Menghitung laju reaksi kimia dari sampel waktu.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Data nyata tidak memiliki rumus fungsi kontinu eksak!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42255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10512"/>
            <a:ext cx="4876495" cy="39684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[Kasus] Studi Kasus: Posisi s(t) -&gt; v(2)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Data t = 1, 2, 3 s -&gt; s = 1, 8, 27 m (h = 1 s). Dicari v(2):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Maju: (27 - 8)/1 = 19 m/s (Galat = 7)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Mundur: (8 - 1)/1 = 7 m/s (Galat = 5)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Tengah: (27 - 1)/2 = 13 m/s (Galat = 1)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Eksak s(t)=t³ -&gt; s'(2) = 3(2)² = 12 m/s.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Kesimpulan: Selisih tengah O(h²) jauh lebih teliti daripada O(h)!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E3A8A"/>
                </a:solidFill>
              </a:defRPr>
            </a:pPr>
            <a:r>
              <a:t>PENDEKATAN DERET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Dasar Rumus: Pendekatan Deret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none" tIns="0" l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Metode Numerik — Imron dkk. (2022) | Slide 4 dari 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4754880" cy="39684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[Penurunan] Penurunan via Polinomial Lagrange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Interpolasi pada x₀ dan x₁ = x₀ + h: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f(x) = P₀,₁(x) + [(x - x₀)(x - x₁)/2!] f''(ξ(x))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P₀,₁(x) = [f(x₀)(x - x₀ - h)/(-h)] + [f(x₀+h)(x - x₀)/h]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Turunkan terhadap x, lalu evaluasi di x = x₀.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Suku koefisien D_x(f''(ξ(x))) bernilai 0 di x = x₀ sehingga galat dapat dirumuskan secara tegas.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42255" cy="201168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783080"/>
            <a:ext cx="4785055" cy="17373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</a:defRPr>
            </a:pPr>
            <a:r>
              <a:t>HASIL PENURUNAN (PERSAMAAN 6.1 BUKU)</a:t>
            </a:r>
          </a:p>
          <a:p>
            <a:pPr algn="ctr">
              <a:spcAft>
                <a:spcPts val="400"/>
              </a:spcAft>
              <a:defRPr sz="1600" b="1">
                <a:solidFill>
                  <a:srgbClr val="0F172A"/>
                </a:solidFill>
              </a:defRPr>
            </a:pPr>
            <a:r>
              <a:t>f'(x₀) = [f(x₀ + h) - f(x₀)] / h  -  (h / 2) f''(ξ)</a:t>
            </a:r>
          </a:p>
          <a:p>
            <a:pPr algn="ctr">
              <a:defRPr sz="1100">
                <a:solidFill>
                  <a:srgbClr val="475569"/>
                </a:solidFill>
              </a:defRPr>
            </a:pPr>
            <a:r>
              <a:t>Suku -(h/2)f''(ξ) adalah galat pemotongan (truncation error)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931920"/>
            <a:ext cx="5242255" cy="2011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096512"/>
            <a:ext cx="4876495" cy="16824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[Setara] Sudut Pandang Deret Taylor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f(x+h) = f(x) + h f'(x) + (h²/2) f''(x) + ...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f'(x) = [f(x+h) - f(x)] / h - O(h)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Alur: Titik Data -&gt; Polinomial -&gt; Rumus -&gt; Suku Galat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E3A8A"/>
                </a:solidFill>
              </a:defRPr>
            </a:pPr>
            <a:r>
              <a:t>PENDEKATAN DERET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Metode Selisih Maju dan Mundur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none" tIns="0" l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Metode Numerik — Imron dkk. (2022) | Slide 5 dari 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23774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83080"/>
            <a:ext cx="4663440" cy="21031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</a:defRPr>
            </a:pPr>
            <a:r>
              <a:t>SELISIH MAJU (FORWARD DIFFERENCE)</a:t>
            </a:r>
          </a:p>
          <a:p>
            <a:pPr algn="ctr">
              <a:spcAft>
                <a:spcPts val="400"/>
              </a:spcAft>
              <a:defRPr sz="1600" b="1">
                <a:solidFill>
                  <a:srgbClr val="0F172A"/>
                </a:solidFill>
              </a:defRPr>
            </a:pPr>
            <a:r>
              <a:t>f'(x) ≈ [f(x + h) - f(x)] / h</a:t>
            </a:r>
          </a:p>
          <a:p>
            <a:pPr algn="ctr">
              <a:defRPr sz="1100">
                <a:solidFill>
                  <a:srgbClr val="475569"/>
                </a:solidFill>
              </a:defRPr>
            </a:pPr>
            <a:r>
              <a:t>Titik di depan | Cocok untuk ujung kiri data | Galat O(h)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42255" cy="23774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783080"/>
            <a:ext cx="4785055" cy="21031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</a:defRPr>
            </a:pPr>
            <a:r>
              <a:t>SELISIH MUNDUR (BACKWARD DIFFERENCE)</a:t>
            </a:r>
          </a:p>
          <a:p>
            <a:pPr algn="ctr">
              <a:spcAft>
                <a:spcPts val="400"/>
              </a:spcAft>
              <a:defRPr sz="1600" b="1">
                <a:solidFill>
                  <a:srgbClr val="0F172A"/>
                </a:solidFill>
              </a:defRPr>
            </a:pPr>
            <a:r>
              <a:t>f'(x) ≈ [f(x) - f(x - h)] / h</a:t>
            </a:r>
          </a:p>
          <a:p>
            <a:pPr algn="ctr">
              <a:defRPr sz="1100">
                <a:solidFill>
                  <a:srgbClr val="475569"/>
                </a:solidFill>
              </a:defRPr>
            </a:pPr>
            <a:r>
              <a:t>Titik di belakang | Cocok untuk ujung kanan data | Galat O(h)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297680"/>
            <a:ext cx="10728655" cy="1645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462272"/>
            <a:ext cx="10362895" cy="131673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[Evaluasi] Karakteristik &amp; Kesimpulan Praktis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Sederhana: Masing-masing hanya membutuhkan 2 nilai fungsi.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Keterbatasan: Orde galat O(h) memerlukan nilai h yang sangat kecil untuk presisi tinggi.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Buku teks: Beda mundur secara matematis adalah Persamaan 6.1 dengan nilai h negatif.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E3A8A"/>
                </a:solidFill>
              </a:defRPr>
            </a:pPr>
            <a:r>
              <a:t>PENDEKATAN DERET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Metode Selisih Tengah (Central Difference)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none" tIns="0" l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Metode Numerik — Imron dkk. (2022) | Slide 6 dari 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728655" cy="228600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83080"/>
            <a:ext cx="10271455" cy="20116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</a:defRPr>
            </a:pPr>
            <a:r>
              <a:t>RUMUS TIGA TITIK TENGAH (PERSAMAAN 6.5)</a:t>
            </a:r>
          </a:p>
          <a:p>
            <a:pPr algn="ctr">
              <a:spcAft>
                <a:spcPts val="400"/>
              </a:spcAft>
              <a:defRPr sz="1600" b="1">
                <a:solidFill>
                  <a:srgbClr val="0F172A"/>
                </a:solidFill>
              </a:defRPr>
            </a:pPr>
            <a:r>
              <a:t>f'(x₀) ≈ [f(x₀ + h) - f(x₀ - h)] / (2h)</a:t>
            </a:r>
          </a:p>
          <a:p>
            <a:pPr algn="ctr">
              <a:defRPr sz="1100">
                <a:solidFill>
                  <a:srgbClr val="475569"/>
                </a:solidFill>
              </a:defRPr>
            </a:pPr>
            <a:r>
              <a:t>Suku galat pemotongan:  -(h² / 6) f'''(ξ₁) ,  ξ₁ ∈ (x₀ - h, x₀ + h)  =&gt;  O(h²)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06240"/>
            <a:ext cx="512064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370832"/>
            <a:ext cx="4754880" cy="1408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[Kelebihan] Kelebihan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Simetris: Suku ganjil Taylor saling meniadakan.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Orde O(h²): Jika h dibagi 2, galat turun 4 kali lipat!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Nilai f(x₀) tidak perlu dihitung dalam rumus.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206240"/>
            <a:ext cx="5242255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370832"/>
            <a:ext cx="4876495" cy="1408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[Keterbatasan] Keterbatasan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Membutuhkan nilai fungsi di kedua sisi titik (kiri &amp; kanan).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Tidak dapat digunakan pada batas paling ujung data tabel.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Memerlukan rumus titik ujung (slide 7).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E3A8A"/>
                </a:solidFill>
              </a:defRPr>
            </a:pPr>
            <a:r>
              <a:t>PENDEKATAN DERET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Rumus Tiga Titik dan Lima Titik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none" tIns="0" l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Metode Numerik — Imron dkk. (2022) | Slide 7 dari 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291840" cy="210312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83080"/>
            <a:ext cx="2834640" cy="18288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</a:defRPr>
            </a:pPr>
            <a:r>
              <a:t>3 TITIK UJUNG (6.4)</a:t>
            </a:r>
          </a:p>
          <a:p>
            <a:pPr algn="ctr">
              <a:spcAft>
                <a:spcPts val="400"/>
              </a:spcAft>
              <a:defRPr sz="1600" b="1">
                <a:solidFill>
                  <a:srgbClr val="0F172A"/>
                </a:solidFill>
              </a:defRPr>
            </a:pPr>
            <a:r>
              <a:t>[-3f₀ + 4f₁ - f₂] / 2h</a:t>
            </a:r>
          </a:p>
          <a:p>
            <a:pPr algn="ctr">
              <a:defRPr sz="1100">
                <a:solidFill>
                  <a:srgbClr val="475569"/>
                </a:solidFill>
              </a:defRPr>
            </a:pPr>
            <a:r>
              <a:t>Galat: (h²/3) f''' =&gt; O(h²)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291840" cy="210312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783080"/>
            <a:ext cx="2834640" cy="18288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</a:defRPr>
            </a:pPr>
            <a:r>
              <a:t>5 TITIK TENGAH (6.7)</a:t>
            </a:r>
          </a:p>
          <a:p>
            <a:pPr algn="ctr">
              <a:spcAft>
                <a:spcPts val="400"/>
              </a:spcAft>
              <a:defRPr sz="1600" b="1">
                <a:solidFill>
                  <a:srgbClr val="0F172A"/>
                </a:solidFill>
              </a:defRPr>
            </a:pPr>
            <a:r>
              <a:t>[f₋₂ - 8f₋₁ + 8f₁ - f₂] / 12h</a:t>
            </a:r>
          </a:p>
          <a:p>
            <a:pPr algn="ctr">
              <a:defRPr sz="1100">
                <a:solidFill>
                  <a:srgbClr val="475569"/>
                </a:solidFill>
              </a:defRPr>
            </a:pPr>
            <a:r>
              <a:t>Galat: (h⁴/30) f⁽⁵⁾ =&gt; O(h⁴)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413455" cy="210312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783080"/>
            <a:ext cx="2956255" cy="18288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</a:defRPr>
            </a:pPr>
            <a:r>
              <a:t>5 TITIK UJUNG (6.6)</a:t>
            </a:r>
          </a:p>
          <a:p>
            <a:pPr algn="ctr">
              <a:spcAft>
                <a:spcPts val="400"/>
              </a:spcAft>
              <a:defRPr sz="1600" b="1">
                <a:solidFill>
                  <a:srgbClr val="0F172A"/>
                </a:solidFill>
              </a:defRPr>
            </a:pPr>
            <a:r>
              <a:t>[-25f₀ + 48f₁ - 36f₂ + 16f₃ - 3f₄] / 12h</a:t>
            </a:r>
          </a:p>
          <a:p>
            <a:pPr algn="ctr">
              <a:defRPr sz="1100">
                <a:solidFill>
                  <a:srgbClr val="475569"/>
                </a:solidFill>
              </a:defRPr>
            </a:pPr>
            <a:r>
              <a:t>Galat: (h⁴/5) f⁽⁵⁾ =&gt; O(h⁴)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" y="4023360"/>
          <a:ext cx="1072865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6"/>
              </a:tblGrid>
              <a:tr h="48006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1E3A8A"/>
                          </a:solidFill>
                        </a:defRPr>
                      </a:pPr>
                      <a:r>
                        <a:t>Aspek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1E3A8A"/>
                          </a:solidFill>
                        </a:defRPr>
                      </a:pPr>
                      <a:r>
                        <a:t>Tiga Titik Ujung (6.4)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1E3A8A"/>
                          </a:solidFill>
                        </a:defRPr>
                      </a:pPr>
                      <a:r>
                        <a:t>Lima Titik Tengah (6.7)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1E3A8A"/>
                          </a:solidFill>
                        </a:defRPr>
                      </a:pPr>
                      <a:r>
                        <a:t>Lima Titik Ujung (6.6)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Jumlah Titik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3 titik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5 titik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5 titik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Posisi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Ujung batas interval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Titik dalam (interior)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Ujung batas interval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Orde Galat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O(h²)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O(h⁴) 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O(h⁴) 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E3A8A"/>
                </a:solidFill>
              </a:defRPr>
            </a:pPr>
            <a:r>
              <a:t>CONTOH 6.1.1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Contoh: Selisih Maju untuk f(x) = ln x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none" tIns="0" l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Metode Numerik — Imron dkk. (2022) | Slide 8 dari 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728655" cy="164592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83080"/>
            <a:ext cx="10271455" cy="13716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</a:defRPr>
            </a:pPr>
            <a:r>
              <a:t>PERHITUNGAN KASUS X₀ = 1,8 ; H = 0,1</a:t>
            </a:r>
          </a:p>
          <a:p>
            <a:pPr algn="ctr">
              <a:spcAft>
                <a:spcPts val="400"/>
              </a:spcAft>
              <a:defRPr sz="1600" b="1">
                <a:solidFill>
                  <a:srgbClr val="0F172A"/>
                </a:solidFill>
              </a:defRPr>
            </a:pPr>
            <a:r>
              <a:t>f'(1,8) ≈ [ln(1,9) - ln(1,8)] / 0,1 = (0,64185389 - 0,58778667) / 0,1 = 0,5406722</a:t>
            </a:r>
          </a:p>
          <a:p>
            <a:pPr algn="ctr">
              <a:defRPr sz="1100">
                <a:solidFill>
                  <a:srgbClr val="475569"/>
                </a:solidFill>
              </a:defRPr>
            </a:pPr>
            <a:r>
              <a:t>Nilai Eksak: f'(x) = 1/x =&gt; f'(1,8) = 1/1,8 ≈ 0,5555556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3474720"/>
          <a:ext cx="1072865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6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1E3A8A"/>
                          </a:solidFill>
                        </a:defRPr>
                      </a:pPr>
                      <a:r>
                        <a:t>Langkah 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1E3A8A"/>
                          </a:solidFill>
                        </a:defRPr>
                      </a:pPr>
                      <a:r>
                        <a:t>Nilai Pendekatan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1E3A8A"/>
                          </a:solidFill>
                        </a:defRPr>
                      </a:pPr>
                      <a:r>
                        <a:t>Galat Aktual |Eksak - Pend.|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1E3A8A"/>
                          </a:solidFill>
                        </a:defRPr>
                      </a:pPr>
                      <a:r>
                        <a:t>Batas Atas Galat |h| / [2(1,8)²]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0,10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0,5406722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0,0148834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0,0154321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0,05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0,5479795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0,0075761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0,0077160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0,01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0,5540180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0,0015376 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0,0015432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31520" y="5577840"/>
            <a:ext cx="10728655" cy="594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742432"/>
            <a:ext cx="10362895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Keterangan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Makin kecil h, pendekatan makin dekat ke eksak. Batas atas teoritis terbukti selalu lebih besar dari galat aktual.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E3A8A"/>
                </a:solidFill>
              </a:defRPr>
            </a:pPr>
            <a:r>
              <a:t>ANALISIS GALAT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Galat atau Kesalahan Pendekatan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none" tIns="0" l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Metode Numerik — Imron dkk. (2022) | Slide 9 dari 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4754880" cy="39684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[Teori] Konsep Dasar Galat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Turunan numerik selalu berupa hampiran / pendekatan.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Galat Pemotongan (Truncation Error): Akibat memutus deret tak hingga Taylor.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Galat Bertanda = Eksak - Pendekatan.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Galat Absolut = |Eksak - Pendekatan|.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Pengaruh h: h makin kecil -&gt; galat pemotongan umumnya turun.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42255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10512"/>
            <a:ext cx="4876495" cy="39684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[Orde] Perbandingan Orde Galat O(h^p)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Selisih Maju  : O(h)    [Linear, penurunan lambat]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Selisih Mundur: O(h)    [Linear, penurunan lambat]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Selisih Tengah: O(h²)   [Kuadratik, h/2 -&gt; galat / 4]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3 Titik Ujung : O(h²)   [Kuadratik, h/2 -&gt; galat / 4]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5 Titik Tengah: O(h⁴)   [Kuartik, h/2 -&gt; galat / 16! ⭐]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5 Titik Ujung : O(h⁴)   [Kuartik, h/2 -&gt; galat / 16! ⭐]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Notasi Big-O adalah perilaku asimtotik saat h cukup kecil.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E3A8A"/>
                </a:solidFill>
              </a:defRPr>
            </a:pPr>
            <a:r>
              <a:t>ANALISIS GALAT TAMBAHAN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Pengaruh Nilai h dan Sumber Galat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none" tIns="0" l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Metode Numerik — Imron dkk. (2022) | Slide 10 dari 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4754880" cy="39684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[Model] Trade-off Komputasi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Galat Pemotongan ~ h^p: Turun saat h mengecil.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Galat Pembulatan / Noise ~ δ/h: Naik saat h mengecil!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Total Galat (Tengah): E(h) ≤ (M h² / 6) + (δ / h)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Langkah Optimum: h* ≈ ³√(3δ / M)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Peringatan: Nilai h yang terlalu kecil TIDAK SELALU lebih akurat!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0" y="1645920"/>
          <a:ext cx="5242255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7418"/>
                <a:gridCol w="1747418"/>
                <a:gridCol w="1747419"/>
              </a:tblGrid>
              <a:tr h="613954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1E3A8A"/>
                          </a:solidFill>
                        </a:defRPr>
                      </a:pPr>
                      <a:r>
                        <a:t>Langkah 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1E3A8A"/>
                          </a:solidFill>
                        </a:defRPr>
                      </a:pPr>
                      <a:r>
                        <a:t>Galat Maju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1E3A8A"/>
                          </a:solidFill>
                        </a:defRPr>
                      </a:pPr>
                      <a:r>
                        <a:t>Galat Tengah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10⁻¹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1,41 × 10⁻¹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4,53 × 10⁻³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10⁻⁴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1,36 × 10⁻⁴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4,53 × 10⁻⁹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10⁻⁶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1,36 × 10⁻⁶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1,63 × 10⁻¹⁰ (Optimum Tengah) 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10⁻⁸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6,60 × 10⁻⁹ (Optimum Maju) 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6,60 × 10⁻⁹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10⁻¹²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4,32 × 10⁻⁴ (Naik kembali)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2,10 × 10⁻⁴ (Naik kembali)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395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10⁻¹⁴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9,34 × 10⁻³ (Naik kembali)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9,34 × 10⁻³ (Naik kembali)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E3A8A"/>
                </a:solidFill>
              </a:defRPr>
            </a:pPr>
            <a:r>
              <a:t>ANALISIS GALAT TAMBAHAN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Galat Absolut, Relatif, dan Persentase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none" tIns="0" l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Metode Numerik — Imron dkk. (2022) | Slide 11 dari 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291840" cy="201168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83080"/>
            <a:ext cx="2834640" cy="17373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</a:defRPr>
            </a:pPr>
            <a:r>
              <a:t>GALAT ABSOLUT (EA)</a:t>
            </a:r>
          </a:p>
          <a:p>
            <a:pPr algn="ctr">
              <a:spcAft>
                <a:spcPts val="400"/>
              </a:spcAft>
              <a:defRPr sz="1600" b="1">
                <a:solidFill>
                  <a:srgbClr val="0F172A"/>
                </a:solidFill>
              </a:defRPr>
            </a:pPr>
            <a:r>
              <a:t>Ea = |f'(x) - Dh|</a:t>
            </a:r>
          </a:p>
          <a:p>
            <a:pPr algn="ctr">
              <a:defRPr sz="1100">
                <a:solidFill>
                  <a:srgbClr val="475569"/>
                </a:solidFill>
              </a:defRPr>
            </a:pPr>
            <a:r>
              <a:t>Satuan sama dengan turunan f'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291840" cy="201168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783080"/>
            <a:ext cx="2834640" cy="17373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</a:defRPr>
            </a:pPr>
            <a:r>
              <a:t>GALAT RELATIF (ER)</a:t>
            </a:r>
          </a:p>
          <a:p>
            <a:pPr algn="ctr">
              <a:spcAft>
                <a:spcPts val="400"/>
              </a:spcAft>
              <a:defRPr sz="1600" b="1">
                <a:solidFill>
                  <a:srgbClr val="0F172A"/>
                </a:solidFill>
              </a:defRPr>
            </a:pPr>
            <a:r>
              <a:t>Er = |f'(x) - Dh| / |f'(x)|</a:t>
            </a:r>
          </a:p>
          <a:p>
            <a:pPr algn="ctr">
              <a:defRPr sz="1100">
                <a:solidFill>
                  <a:srgbClr val="475569"/>
                </a:solidFill>
              </a:defRPr>
            </a:pPr>
            <a:r>
              <a:t>Ukuran proporsional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413455" cy="201168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783080"/>
            <a:ext cx="2956255" cy="17373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</a:defRPr>
            </a:pPr>
            <a:r>
              <a:t>GALAT PERSENTASE (E%)</a:t>
            </a:r>
          </a:p>
          <a:p>
            <a:pPr algn="ctr">
              <a:spcAft>
                <a:spcPts val="400"/>
              </a:spcAft>
              <a:defRPr sz="1600" b="1">
                <a:solidFill>
                  <a:srgbClr val="0F172A"/>
                </a:solidFill>
              </a:defRPr>
            </a:pPr>
            <a:r>
              <a:t>E% = Er × 100%</a:t>
            </a:r>
          </a:p>
          <a:p>
            <a:pPr algn="ctr">
              <a:defRPr sz="1100">
                <a:solidFill>
                  <a:srgbClr val="475569"/>
                </a:solidFill>
              </a:defRPr>
            </a:pPr>
            <a:r>
              <a:t>Format persentase praktis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10728655" cy="2103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96512"/>
            <a:ext cx="10362895" cy="177393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[Aplikasi] Contoh Aplikasi: Kasus ln x di x = 1,8 (h = 0,1)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Dh = 0,5406722  dan  f'(1,8) = 0,5555556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Ea = |0,5555556 - 0,5406722| = 0,0148834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Er = 0,0148834 / 0,5555556 ≈ 0,0267901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E% ≈ 2,679%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Perhatian Khusus: Jika f'(x) = 0, Er tidak terdefinisi (pembagian nol). Gunakan Ea!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E3A8A"/>
                </a:solidFill>
              </a:defRPr>
            </a:pPr>
            <a:r>
              <a:t>EKSTRAPOLASI RICHARDSON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Metode Ekstrapolasi Richardson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none" tIns="0" l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Metode Numerik — Imron dkk. (2022) | Slide 12 dari 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4754880" cy="39684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[Konsep] Prinsip Kerja Richardson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Menggabungkan hasil langkah awal N₁(h) dan langkah separuhnya N₁(h/2).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Menghilangkan suku galat dominan pertama.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Mendongkrak ketelitian secara drastis tanpa perlu rumus baru.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Rumus Rekursif Umum (Galat Genap):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Nj(h) = N_{j-1}(h/2) + [1/(4^{j-1} - 1)] [N_{j-1}(h/2) - N_{j-1}(h)]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Penting: Pilih rumus sesuai bentuk ekspansi galat!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42255" cy="201168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783080"/>
            <a:ext cx="4785055" cy="17373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</a:defRPr>
            </a:pPr>
            <a:r>
              <a:t>GALAT BERPANGKAT GENAP (SELISIH TENGAH)</a:t>
            </a:r>
          </a:p>
          <a:p>
            <a:pPr algn="ctr">
              <a:spcAft>
                <a:spcPts val="400"/>
              </a:spcAft>
              <a:defRPr sz="1600" b="1">
                <a:solidFill>
                  <a:srgbClr val="0F172A"/>
                </a:solidFill>
              </a:defRPr>
            </a:pPr>
            <a:r>
              <a:t>N₂(h) = [4 N₁(h/2) - N₁(h)] / 3</a:t>
            </a:r>
          </a:p>
          <a:p>
            <a:pPr algn="ctr">
              <a:defRPr sz="1100">
                <a:solidFill>
                  <a:srgbClr val="475569"/>
                </a:solidFill>
              </a:defRPr>
            </a:pPr>
            <a:r>
              <a:t>Menghilangkan suku h² =&gt; Menjadi berorde O(h⁴) 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931920"/>
            <a:ext cx="5242255" cy="201168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4069080"/>
            <a:ext cx="4785055" cy="17373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</a:defRPr>
            </a:pPr>
            <a:r>
              <a:t>GALAT BERPANGKAT LINEAR (SELISIH MAJU/MUNDUR)</a:t>
            </a:r>
          </a:p>
          <a:p>
            <a:pPr algn="ctr">
              <a:spcAft>
                <a:spcPts val="400"/>
              </a:spcAft>
              <a:defRPr sz="1600" b="1">
                <a:solidFill>
                  <a:srgbClr val="0F172A"/>
                </a:solidFill>
              </a:defRPr>
            </a:pPr>
            <a:r>
              <a:t>N₂(h) = 2 N₁(h/2) - N₁(h)</a:t>
            </a:r>
          </a:p>
          <a:p>
            <a:pPr algn="ctr">
              <a:defRPr sz="1100">
                <a:solidFill>
                  <a:srgbClr val="475569"/>
                </a:solidFill>
              </a:defRPr>
            </a:pPr>
            <a:r>
              <a:t>Menghilangkan suku h =&gt; Menjadi berorde O(h²)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E3A8A"/>
                </a:solidFill>
              </a:defRPr>
            </a:pPr>
            <a:r>
              <a:t>CONTOH 6.2.1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Contoh Richardson untuk f(x) = ln x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none" tIns="0" l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Metode Numerik — Imron dkk. (2022) | Slide 13 dari 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728655" cy="164592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83080"/>
            <a:ext cx="10271455" cy="13716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</a:defRPr>
            </a:pPr>
            <a:r>
              <a:t>SUBSTITUSI NILAI LANGKAH H = 0,1 DAN H = 0,05</a:t>
            </a:r>
          </a:p>
          <a:p>
            <a:pPr algn="ctr">
              <a:spcAft>
                <a:spcPts val="400"/>
              </a:spcAft>
              <a:defRPr sz="1600" b="1">
                <a:solidFill>
                  <a:srgbClr val="0F172A"/>
                </a:solidFill>
              </a:defRPr>
            </a:pPr>
            <a:r>
              <a:t>N₂(0,1) = 2 N₁(0,05) - N₁(0,1) = 2(0,5479795) - 0,5406722 ≈ 0,5552868</a:t>
            </a:r>
          </a:p>
          <a:p>
            <a:pPr algn="ctr">
              <a:defRPr sz="1100">
                <a:solidFill>
                  <a:srgbClr val="475569"/>
                </a:solidFill>
              </a:defRPr>
            </a:pPr>
            <a:r>
              <a:t>Nilai Eksak: 1/1,8 ≈ 0,5555556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3474720"/>
          <a:ext cx="10728655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6218"/>
                <a:gridCol w="3576218"/>
                <a:gridCol w="3576219"/>
              </a:tblGrid>
              <a:tr h="493776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1E3A8A"/>
                          </a:solidFill>
                        </a:defRPr>
                      </a:pPr>
                      <a:r>
                        <a:t>Metode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1E3A8A"/>
                          </a:solidFill>
                        </a:defRPr>
                      </a:pPr>
                      <a:r>
                        <a:t>Hasil Perhitungan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1E3A8A"/>
                          </a:solidFill>
                        </a:defRPr>
                      </a:pPr>
                      <a:r>
                        <a:t>Galat terhadap Nilai Eksak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Selisih Maju (h = 0,1)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0,5406722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0,0148834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Selisih Maju (h = 0,05)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0,5479795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0,0075761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Ekstrapolasi Richardson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0,5552868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0,0002688 (28× Lebih Teliti!) 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Nilai Eksak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0,5555556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— (Referensi)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E3A8A"/>
                </a:solidFill>
              </a:defRPr>
            </a:pPr>
            <a:r>
              <a:t>CONTOH 6.1.2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Penerapan pada Data Tabel: f(x) = x e^x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none" tIns="0" l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Metode Numerik — Imron dkk. (2022) | Slide 14 dari 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411480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71628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1E3A8A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1E3A8A"/>
                          </a:solidFill>
                        </a:defRPr>
                      </a:pPr>
                      <a:r>
                        <a:t>f(x) Data Tabel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1,8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10,889365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1,9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12,703199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2,0 (Titik Evaluasi)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14,778112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2,1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17,148957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2,2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19,855030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120640" y="1645920"/>
          <a:ext cx="633953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178"/>
                <a:gridCol w="2113178"/>
                <a:gridCol w="2113179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1E3A8A"/>
                          </a:solidFill>
                        </a:defRPr>
                      </a:pPr>
                      <a:r>
                        <a:t>Rumus (h = 0,1)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1E3A8A"/>
                          </a:solidFill>
                        </a:defRPr>
                      </a:pPr>
                      <a:r>
                        <a:t>Pendekatan f'(2)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1E3A8A"/>
                          </a:solidFill>
                        </a:defRPr>
                      </a:pPr>
                      <a:r>
                        <a:t>Galat Absolut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Tiga Titik Ujung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22,032310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1,35 × 10⁻¹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Tiga Titik Tengah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22,228790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6,16 × 10⁻²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Lima Titik Tengah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22,166999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1,69 × 10⁻⁴ 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120640" y="4572000"/>
            <a:ext cx="6339535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0" y="4736592"/>
            <a:ext cx="5973775" cy="104241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[Evaluasi] Analisis Hasil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Eksak: f'(x) = (1+x)e^x =&gt; f'(2) = 3e² ≈ 22,167168.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Lima titik tengah O(h⁴) memberikan ketelitian luar biasa pada data tabel!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E3A8A"/>
                </a:solidFill>
              </a:defRPr>
            </a:pPr>
            <a:r>
              <a:t>CONTOH 6.1.3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Contoh 6.1.3 — Menghitung Turunan dari Data Tabel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none" tIns="0" l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Metode Numerik — Imron dkk. (2022) | Slide 15 dari 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512064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</a:tblGrid>
              <a:tr h="71628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1E3A8A"/>
                          </a:solidFill>
                        </a:defRPr>
                      </a:pPr>
                      <a:r>
                        <a:t>Titik x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1E3A8A"/>
                          </a:solidFill>
                        </a:defRPr>
                      </a:pPr>
                      <a:r>
                        <a:t>Rumus yang Cocok Digunakan (h = 0,1)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1,1 (Ujung)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6.4 Tiga Titik Ujung ; 6.6 Lima Titik Ujung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1,2 (Interior)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6.4 Ujung ; 6.5 Tiga Titik Tengah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1,3 (Tengah Penuh)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6.4 Ujung ; 6.5 Tengah ; 6.7 Lima Titik Tengah 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1,4 (Interior)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6.4 Ujung (h=-0,1) ; 6.5 Tengah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1,5 (Ujung)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6.4 Ujung (h=-0,1) ; 6.6 Lima Titik Ujung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217920" y="1645920"/>
            <a:ext cx="5242255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10512"/>
            <a:ext cx="4876495" cy="39684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[Hitungan] Contoh Hitungan Tabel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f'(1,1) [Ujung 6.4, h=0,1]: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[-3(9,025013) + 4(11,02318) - 13,46374] / 0,2 = 17,76971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f'(1,3) [Tengah 6.5, h=0,1]: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[16,44465 - 11,02318] / 0,2 = 27,10735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f'(1,3) [Lima Titik Tengah 6.7]: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[9,025013 - 8(11,02318) + 8(16,44465) - 20,08554] / 1,2 = 26,92603 ⭐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E3A8A"/>
                </a:solidFill>
              </a:defRPr>
            </a:pPr>
            <a:r>
              <a:t>CONTOH 6.2.2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Contoh 6.2.2 — Richardson pada f(x) = x e^x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none" tIns="0" l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Metode Numerik — Imron dkk. (2022) | Slide 16 dari 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0728655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6"/>
              </a:tblGrid>
              <a:tr h="522514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1E3A8A"/>
                          </a:solidFill>
                        </a:defRPr>
                      </a:pPr>
                      <a:r>
                        <a:t>Langkah / Tingkat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1E3A8A"/>
                          </a:solidFill>
                        </a:defRPr>
                      </a:pPr>
                      <a:r>
                        <a:t>Perhitungan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1E3A8A"/>
                          </a:solidFill>
                        </a:defRPr>
                      </a:pPr>
                      <a:r>
                        <a:t>Hasil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1E3A8A"/>
                          </a:solidFill>
                        </a:defRPr>
                      </a:pPr>
                      <a:r>
                        <a:t>Keterangan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N₁(0,2)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2,5(19,855030 - 10,889365)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22,414160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Selisih Tengah h=0,2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N₁(0,1)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5(17,148957 - 12,703199)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22,228786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Selisih Tengah h=0,1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N₂(0,2)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22,228786 + (22,228786 - 22,414160)/3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22,166995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Tingkat 2 (O(h⁴))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N₁(0,05)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10(15,924197 - 13,705941)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22,182564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Selisih Tengah h=0,05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N₂(0,1)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22,182564 + (22,182564 - 22,228786)/3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22,167157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Tingkat 2 h=0,1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N₃(0,2)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22,167157 + (22,167157 - 22,166995)/15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22,167168 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Identik Eksak!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5486400"/>
            <a:ext cx="10728655" cy="685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650992"/>
            <a:ext cx="10362895" cy="35661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Hasil Akhir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Eksak: 3e² ≈ 22,167168. N₃(0,2) identik sempurna dengan nilai eksak hingga 6 angka desimal!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E3A8A"/>
                </a:solidFill>
              </a:defRPr>
            </a:pPr>
            <a:r>
              <a:t>CONTOH 6.2.3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Contoh 6.2.3 — Richardson dari Data Tabel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none" tIns="0" l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Metode Numerik — Imron dkk. (2022) | Slide 17 dari 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4754880" cy="39684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[Hitungan] Perhitungan Richardson x₀ = 1,3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N₁(0,2) = (20,08554 - 9,025013) / 0,4 = 27,651318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N₁(0,1) = (16,44465 - 11,02318) / 0,2 = 27,10735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Kombinasi Galat Genap N₂(0,2):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N₂(0,2) = 27,10735 + (27,10735 - 27,651318) / 3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N₂(0,2) ≈ 26,926027 ⭐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Hasil ini berorde O(h⁴) dan sama dengan lima titik tengah!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42255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10512"/>
            <a:ext cx="4876495" cy="39684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[Batasan] Keterbatasan Batas Data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Mengapa N₃ tidak bisa dihitung?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Untuk N₃ dibutuhkan N₁(0,05) yang memerlukan f(1,35) dan f(1,25).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Karena tabel eksperimen hanya memiliki kelipatan 0,1, data tersebut tidak ada.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Rekursi Richardson harus berhenti pada ketersediaan data tabel nyata!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E3A8A"/>
                </a:solidFill>
              </a:defRPr>
            </a:pPr>
            <a:r>
              <a:t>RINGKASAN METODE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Perbandingan Metode Diferensiasi Numerik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none" tIns="0" l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Metode Numerik — Imron dkk. (2022) | Slide 18 dari 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5731"/>
                <a:gridCol w="2145731"/>
                <a:gridCol w="2145731"/>
                <a:gridCol w="2145731"/>
                <a:gridCol w="2145731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1E3A8A"/>
                          </a:solidFill>
                        </a:defRPr>
                      </a:pPr>
                      <a:r>
                        <a:t>Metode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1E3A8A"/>
                          </a:solidFill>
                        </a:defRPr>
                      </a:pPr>
                      <a:r>
                        <a:t>Titik / Data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1E3A8A"/>
                          </a:solidFill>
                        </a:defRPr>
                      </a:pPr>
                      <a:r>
                        <a:t>Galat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1E3A8A"/>
                          </a:solidFill>
                        </a:defRPr>
                      </a:pPr>
                      <a:r>
                        <a:t>Kelebihan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1E3A8A"/>
                          </a:solidFill>
                        </a:defRPr>
                      </a:pPr>
                      <a:r>
                        <a:t>Keterbatasan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Selisih Maju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x, x+h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O(h)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Sederhana, 2 nilai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Kurang teliti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Selisih Mundur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x-h, x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O(h)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Cocok di ujung kanan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Kurang teliti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Selisih Tengah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x-h, x+h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O(h²)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Simetris, lebih teliti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Perlu data 2 sisi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3 Titik Ujung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x₀, x₀+h, x₀+2h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O(h²)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Di ujung interval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Butuh 3 nilai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5 Titik Tengah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x₀±h, x₀±2h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O(h⁴) 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Sangat teliti &amp; presisi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Butuh 5 nilai simetris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5 Titik Ujung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x₀ ... x₀+4h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O(h⁴) 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Teliti di ujung satu sisi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Butuh 5 nilai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Richardson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N₁(h), N₁(h/2)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Tinggi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Mendongkrak ketelitian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Bentuk galat harus sesuai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E3A8A"/>
                </a:solidFill>
              </a:defRPr>
            </a:pPr>
            <a:r>
              <a:t>RINGKASAN METODE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Memilih Metode: Rumus &amp; Kondisi Penggunaan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none" tIns="0" l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Metode Numerik — Imron dkk. (2022) | Slide 19 dari 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0728655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6"/>
              </a:tblGrid>
              <a:tr h="49149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1E3A8A"/>
                          </a:solidFill>
                        </a:defRPr>
                      </a:pPr>
                      <a:r>
                        <a:t>Metode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1E3A8A"/>
                          </a:solidFill>
                        </a:defRPr>
                      </a:pPr>
                      <a:r>
                        <a:t>Rumus Dasar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1E3A8A"/>
                          </a:solidFill>
                        </a:defRPr>
                      </a:pPr>
                      <a:r>
                        <a:t>Orde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1E3A8A"/>
                          </a:solidFill>
                        </a:defRPr>
                      </a:pPr>
                      <a:r>
                        <a:t>Kondisi Penggunaan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Selisih Maju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[f(x+h) - f(x)] /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O(h)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Ujung kiri data; hanya ada data ke depan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Selisih Mundur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[f(x) - f(x-h)] / 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O(h)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Ujung kanan data; hanya ada data ke belakang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Selisih Tengah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[f(x+h) - f(x-h)] / 2h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O(h²)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Titik dalam; pilihan umum paling seimbang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3 Titik Ujung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[-3f₀ + 4f₁ - f₂] / 2h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O(h²)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Ujung interval yang membutuhkan akurasi orde 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5 Titik Tengah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[f₋₂ - 8f₋₁ + 8f₁ - f₂] / 12h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O(h⁴)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Titik dalam; data rapat dan fungsi mulus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5 Titik Ujung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[-25f₀ + 48f₁ - 36f₂ + 16f₃ - 3f₄]/12h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O(h⁴)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Ujung interval yang membutuhkan akurasi orde 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Richardson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Eliminasi galat N₁(h) &amp; N₁(h/2)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Tinggi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Tersedia multi-langkah &amp; bentuk galat sesuai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5669280"/>
            <a:ext cx="10728655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833872"/>
            <a:ext cx="10362895" cy="17373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Keterangan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Tidak ada metode yang selalu terbaik di segala situasi: perhatikan noise data dan kestabilan pembulatan!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E3A8A"/>
                </a:solidFill>
              </a:defRPr>
            </a:pPr>
            <a:r>
              <a:t>PENUTUP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Kesimpulan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none" tIns="0" l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Metode Numerik — Imron dkk. (2022) | Slide 20 dari 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486400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5120640" cy="39684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[Ringkasan] Poin-Poin Kunci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Diferensiasi numerik memperkirakan turunan dari nilai fungsi diskret.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Pendekatan deret (Lagrange &amp; Taylor) menjadi fondasi matematis utama.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Selisih maju dan mundur: galat pemotongan O(h).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Selisih tengah dan tiga titik ujung: galat O(h²).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Lima titik (tengah dan ujung): ketelitian tinggi O(h⁴).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Ekstrapolasi Richardson meningkatkan ketelitian secara signifikan.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Pilih h dengan cermat mengingat trade-off pemotongan vs pembulatan.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645920"/>
            <a:ext cx="4876495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810512"/>
            <a:ext cx="4510735" cy="39684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[Intisari] Prinsip Utama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"Ketelitian diferensiasi numerik tidak hanya ditentukan oleh rumus yang digunakan, tetapi juga oleh ukuran langkah, data yang tersedia, dan sifat fungsi."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Keseimbangan Komputasi: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• Orde tinggi butuh lebih banyak data &amp; sensitif terhadap noise.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• Nilai h terlalu kecil memperbesar galat pembulatan komputer.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• Selalu sesuaikan metode dengan posisi titik data!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E3A8A"/>
                </a:solidFill>
              </a:defRPr>
            </a:pPr>
            <a:r>
              <a:t>REFERENSI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Daftar Pustaka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none" tIns="0" l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Metode Numerik — Imron dkk. (2022) | Slide 21 dari 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728655" cy="2011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10362895" cy="16824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[Utama] Buku Teks Utama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Imron, C., Mardlijah, &amp; Asfihani, T. (2022).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Metode Numerik.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Departemen Matematika, Institut Teknologi Sepuluh Nopember (ITS).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ISBN: 978-623-318-126-6.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10728655" cy="2011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96512"/>
            <a:ext cx="10362895" cy="16824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[Pendukung] Referensi Tambahan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[1] Burden, R. L., &amp; Faires, J. D. (2010). Numerical Analysis, 9th ed. Cengage Learning. §1.2 (Galat), §4.1 (Diferensiasi Numerik), §4.2 (Ekstrapolasi Richardson).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[2] University of Maryland (AMSC 466). Lecture Notes: Numerical Differentiation. Pertukaran galat pemotongan dan pembulatan komputer.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